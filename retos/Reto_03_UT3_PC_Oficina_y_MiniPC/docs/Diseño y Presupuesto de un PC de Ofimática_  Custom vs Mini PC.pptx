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529151-BD90-4E4D-8C88-4F342F35E45E}">
  <a:tblStyle styleId="{C6529151-BD90-4E4D-8C88-4F342F35E45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uni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9e5aad981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9e5aad98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9e5aad98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9e5aad98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9e5aad98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9e5aad98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9e5aad98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9e5aad98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9e5aad98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9e5aad98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9e5aad98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9e5aad98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9e5aad981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9e5aad981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9e5aad981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9e5aad981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9e5aad981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9e5aad981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pccomponentes.com/amd-ryzen-5-8500g-35-5ghz-box?s_kwcid=AL!14405!3!!!!x!!&amp;gad_source=1&amp;gad_campaignid=17335768752&amp;gclid=Cj0KCQiAqeDMBhDcARIsAJEbU9R7RTy26Ha7jhQm_aSwZJrchE-3jhhhpvKrIr_oZyqScMN1CstpPg0aAl7QEALw_wcB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pccomponentes.com/gigabyte-a620m-h?s_kwcid=AL!14405!3!!!!x!!&amp;gad_source=1&amp;gad_campaignid=22157318807&amp;gclid=Cj0KCQiAqeDMBhDcARIsAJEbU9SqbsouDtlETGEEme9TsgDgG2VWVLesGyqzk9UEryk4DCTK98h6gk8aAn2aEALw_wcB" TargetMode="External"/><Relationship Id="rId4" Type="http://schemas.openxmlformats.org/officeDocument/2006/relationships/hyperlink" Target="https://www.pccomponentes.com/gigabyte-a620m-h?s_kwcid=AL!14405!3!!!!x!!&amp;gad_source=1&amp;gad_campaignid=22157318807&amp;gclid=Cj0KCQiAqeDMBhDcARIsAJEbU9SqbsouDtlETGEEme9TsgDgG2VWVLesGyqzk9UEryk4DCTK98h6gk8aAn2aEALw_wcB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www.pccomponentes.com/kingston-fury-beast-ddr5-5600mhz-16gb-2x8gb-cl40?s_kwcid=AL!14405!3!!!!x!!&amp;gad_source=1&amp;gad_campaignid=21435331652&amp;gclid=Cj0KCQiAqeDMBhDcARIsAJEbU9QXa4teudtkLOLcujUR8wSnrC4Y8xZWwLlldwa4G9ApmqvCzaublWwaAs7pEALw_wcB" TargetMode="External"/><Relationship Id="rId7" Type="http://schemas.openxmlformats.org/officeDocument/2006/relationships/hyperlink" Target="https://www.pccomponentes.com/kingston-fury-beast-ddr5-5600mhz-16gb-2x8gb-cl40?s_kwcid=AL!14405!3!!!!x!!&amp;gad_source=1&amp;gad_campaignid=21435331652&amp;gclid=Cj0KCQiAqeDMBhDcARIsAJEbU9QXa4teudtkLOLcujUR8wSnrC4Y8xZWwLlldwa4G9ApmqvCzaublWwaAs7pEALw_wcB" TargetMode="External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pccomponentes.com/disco-duro-crucial-500gb-ssd-m2-6600mb-s-pcie-40-nvme-p310-alta-eficiencia?s_kwcid=AL!14405!3!788120513165!!!g!311777763802!&amp;gad_source=1&amp;gad_campaignid=23361464617&amp;gclid=Cj0KCQiAqeDMBhDcARIsAJEbU9SIg4MeAO_tZ3VjhsZjTLY0yHEKFt4tbBRbsU2xUPYM5jt_UdajL2YaAlnAEALw_wcB" TargetMode="External"/><Relationship Id="rId4" Type="http://schemas.openxmlformats.org/officeDocument/2006/relationships/hyperlink" Target="https://www.pccomponentes.com/disco-duro-crucial-500gb-ssd-m2-6600mb-s-pcie-40-nvme-p310-alta-eficiencia?s_kwcid=AL!14405!3!788120513165!!!g!311777763802!&amp;gad_source=1&amp;gad_campaignid=23361464617&amp;gclid=Cj0KCQiAqeDMBhDcARIsAJEbU9SIg4MeAO_tZ3VjhsZjTLY0yHEKFt4tbBRbsU2xUPYM5jt_UdajL2YaAlnAEALw_wcB" TargetMode="External"/><Relationship Id="rId5" Type="http://schemas.openxmlformats.org/officeDocument/2006/relationships/hyperlink" Target="https://www.pccomponentes.com/be-quiet-pure-power-11-cm-400w-80-plus-gold-semi-modular?srsltid=AfmBOoou3-Qu5UGXo7PydI6nLK2VwFKcjkrcn7J5KebjK4CO_LhsrjPC" TargetMode="External"/><Relationship Id="rId6" Type="http://schemas.openxmlformats.org/officeDocument/2006/relationships/hyperlink" Target="https://www.pccomponentes.com/nox-hummer-void-usb-30-negro?utm_source=624709&amp;utm_medium=afi&amp;utm_campaign=www.google.com&amp;sv1=affiliate&amp;sv_campaign_id=624709&amp;awc=20981_1771596600_0d90d7c3d20f18b582a9239710702dc9&amp;utm_term=deeplink&amp;utm_content=09fbe2aaa1eb900faae9be1cdf3964f4" TargetMode="External"/><Relationship Id="rId7" Type="http://schemas.openxmlformats.org/officeDocument/2006/relationships/hyperlink" Target="https://www.pccomponentes.com/nox-hummer-void-usb-30-negro?utm_source=624709&amp;utm_medium=afi&amp;utm_campaign=www.google.com&amp;sv1=affiliate&amp;sv_campaign_id=624709&amp;awc=20981_1771596600_0d90d7c3d20f18b582a9239710702dc9&amp;utm_term=deeplink&amp;utm_content=09fbe2aaa1eb900faae9be1cdf3964f4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pccomponentes.com/amd-ryzen-5-8500g-35-5ghz-box?s_kwcid=AL!14405!3!!!!x!!&amp;gad_source=1&amp;gad_campaignid=17335768752&amp;gclid=Cj0KCQiAqeDMBhDcARIsAJEbU9R7RTy26Ha7jhQm_aSwZJrchE-3jhhhpvKrIr_oZyqScMN1CstpPg0aAl7QEALw_wcB" TargetMode="External"/><Relationship Id="rId4" Type="http://schemas.openxmlformats.org/officeDocument/2006/relationships/hyperlink" Target="https://www.pccomponentes.com/gigabyte-a620m-h?s_kwcid=AL!14405!3!!!!x!!&amp;gad_source=1&amp;gad_campaignid=22157318807&amp;gclid=Cj0KCQiAqeDMBhDcARIsAJEbU9SqbsouDtlETGEEme9TsgDgG2VWVLesGyqzk9UEryk4DCTK98h6gk8aAn2aEALw_wcB" TargetMode="External"/><Relationship Id="rId5" Type="http://schemas.openxmlformats.org/officeDocument/2006/relationships/hyperlink" Target="https://www.pccomponentes.com/kingston-fury-beast-ddr5-5600mhz-16gb-2x8gb-cl40?s_kwcid=AL!14405!3!!!!x!!&amp;gad_source=1&amp;gad_campaignid=21435331652&amp;gclid=Cj0KCQiAqeDMBhDcARIsAJEbU9QXa4teudtkLOLcujUR8wSnrC4Y8xZWwLlldwa4G9ApmqvCzaublWwaAs7pEALw_wcB" TargetMode="External"/><Relationship Id="rId6" Type="http://schemas.openxmlformats.org/officeDocument/2006/relationships/hyperlink" Target="https://www.pccomponentes.com/disco-duro-crucial-500gb-ssd-m2-6600mb-s-pcie-40-nvme-p310-alta-eficiencia?s_kwcid=AL!14405!3!788120513165!!!g!311777763802!&amp;gad_source=1&amp;gad_campaignid=23361464617&amp;gclid=Cj0KCQiAqeDMBhDcARIsAJEbU9SIg4MeAO_tZ3VjhsZjTLY0yHEKFt4tbBRbsU2xUPYM5jt_UdajL2YaAlnAEALw_wcB" TargetMode="External"/><Relationship Id="rId7" Type="http://schemas.openxmlformats.org/officeDocument/2006/relationships/hyperlink" Target="https://www.pccomponentes.com/be-quiet-pure-power-11-cm-400w-80-plus-gold-semi-modular?srsltid=AfmBOoou3-Qu5UGXo7PydI6nLK2VwFKcjkrcn7J5KebjK4CO_LhsrjPC" TargetMode="External"/><Relationship Id="rId8" Type="http://schemas.openxmlformats.org/officeDocument/2006/relationships/hyperlink" Target="https://www.pccomponentes.com/nox-hummer-void-usb-30-negro?utm_source=624709&amp;utm_medium=afi&amp;utm_campaign=www.google.com&amp;sv1=affiliate&amp;sv_campaign_id=624709&amp;awc=20981_1771596600_0d90d7c3d20f18b582a9239710702dc9&amp;utm_term=deeplink&amp;utm_content=09fbe2aaa1eb900faae9be1cdf3964f4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988250" y="1018501"/>
            <a:ext cx="7461600" cy="281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 Diseño y Presupuesto de un PC de Ofimática: </a:t>
            </a:r>
            <a:endParaRPr b="1"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Custom vs Mini PC</a:t>
            </a:r>
            <a:endParaRPr b="1" i="1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Por Yllán Cazorla Más 1ºASIR</a:t>
            </a:r>
            <a:endParaRPr sz="400"/>
          </a:p>
        </p:txBody>
      </p:sp>
      <p:sp>
        <p:nvSpPr>
          <p:cNvPr id="130" name="Google Shape;130;p13"/>
          <p:cNvSpPr txBox="1"/>
          <p:nvPr/>
        </p:nvSpPr>
        <p:spPr>
          <a:xfrm rot="-2114776">
            <a:off x="3827294" y="3107654"/>
            <a:ext cx="6712795" cy="384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24/02/2026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Objetivos:</a:t>
            </a:r>
            <a:endParaRPr b="1" i="1"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Diseñar un equipo informático optimizado para tareas de oficina (Word, Excel, bases de datos, navegación intensiva).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clave: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Cost (Rentabilidad):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Maximizar el rendimiento por cada euro invertido, sin gastar en características innecesarias (ej. gráficas gaming).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Eficiencia y Silencio: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Componentes de bajo consumo y chasis insonorizado para un entorno de trabajo sin ruido.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 Compatibilidad: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Verificación cruzada de estándares (Socket, Chipset, DDR, PCIe, ATX).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615800" y="569000"/>
            <a:ext cx="77091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Procesador: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AMD Ryzen 5 8500G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 núcleos / 12 hilos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Chipset A620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Precio: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154,99 €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URL: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PcComponentes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¿Por qué?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Incluye gráficos integrados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Potencia sobrada para  ofimática 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4900" y="329000"/>
            <a:ext cx="2627500" cy="262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260500" y="299800"/>
            <a:ext cx="39255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55"/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55"/>
              <a:t>Placa Base: </a:t>
            </a:r>
            <a:endParaRPr sz="355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453125" y="2093475"/>
            <a:ext cx="3655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 de forma:Micro ATX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Precio: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79,99 €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URL:</a:t>
            </a:r>
            <a:r>
              <a:rPr lang="es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 PcComponentes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Compatibilidad: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Chipset A620 para el procesador.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Slots de memoria DDR5 DIMM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s" sz="1200"/>
              <a:t>	</a:t>
            </a:r>
            <a:endParaRPr sz="1200"/>
          </a:p>
        </p:txBody>
      </p:sp>
      <p:pic>
        <p:nvPicPr>
          <p:cNvPr id="150" name="Google Shape;15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375" y="199625"/>
            <a:ext cx="1538150" cy="136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367175" y="1446975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Gigabyte	A620M H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4439075" y="299788"/>
            <a:ext cx="39255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5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55"/>
              <a:t>Memoria RAM: </a:t>
            </a:r>
            <a:endParaRPr sz="355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4391625" y="2093475"/>
            <a:ext cx="4391400" cy="26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Tipo: DDR5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Frecuencia:  5600MHz 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Capacidad:16GB(2x8GB) CL40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Precio: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219,95€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URL:</a:t>
            </a:r>
            <a:r>
              <a:rPr lang="es" sz="12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 PcComponentes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Compatibilidad: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Compatibilidad con los slots de memoria de la placa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/>
              <a:t>	</a:t>
            </a:r>
            <a:endParaRPr sz="1200"/>
          </a:p>
        </p:txBody>
      </p:sp>
      <p:sp>
        <p:nvSpPr>
          <p:cNvPr id="154" name="Google Shape;154;p16"/>
          <p:cNvSpPr txBox="1"/>
          <p:nvPr/>
        </p:nvSpPr>
        <p:spPr>
          <a:xfrm>
            <a:off x="4391625" y="1462413"/>
            <a:ext cx="382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Kingston FURY Beast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60075" y="279300"/>
            <a:ext cx="1628775" cy="140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-797850" y="117100"/>
            <a:ext cx="39255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55"/>
              <a:t>SSD</a:t>
            </a:r>
            <a:endParaRPr sz="355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</a:t>
            </a:r>
            <a:r>
              <a:rPr lang="es"/>
              <a:t>Crucial P310 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519225" y="2211075"/>
            <a:ext cx="3655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Capacidad: 500GB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Tipo:M.2 (2280)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Precio:</a:t>
            </a: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116,99 €</a:t>
            </a: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€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URL:</a:t>
            </a:r>
            <a:r>
              <a:rPr lang="es" sz="17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 PcComponentes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s" sz="1800"/>
              <a:t>	</a:t>
            </a:r>
            <a:endParaRPr sz="1800"/>
          </a:p>
        </p:txBody>
      </p:sp>
      <p:sp>
        <p:nvSpPr>
          <p:cNvPr id="162" name="Google Shape;162;p17"/>
          <p:cNvSpPr txBox="1"/>
          <p:nvPr>
            <p:ph type="title"/>
          </p:nvPr>
        </p:nvSpPr>
        <p:spPr>
          <a:xfrm>
            <a:off x="1859275" y="117100"/>
            <a:ext cx="42780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55"/>
              <a:t>Fuente de Alimentación</a:t>
            </a:r>
            <a:endParaRPr/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Be Quiet! Pure Power 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3305675" y="2164025"/>
            <a:ext cx="3655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 80 Plus gold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Potencia:400W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Tipo: Semi modular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 de forma:ATX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Precio: 67,99 € 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URL:</a:t>
            </a:r>
            <a:r>
              <a:rPr b="1" lang="e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PcComponentes</a:t>
            </a:r>
            <a:endParaRPr sz="1800"/>
          </a:p>
        </p:txBody>
      </p:sp>
      <p:sp>
        <p:nvSpPr>
          <p:cNvPr id="164" name="Google Shape;164;p17"/>
          <p:cNvSpPr txBox="1"/>
          <p:nvPr/>
        </p:nvSpPr>
        <p:spPr>
          <a:xfrm>
            <a:off x="1602425" y="1317600"/>
            <a:ext cx="382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>
            <p:ph type="title"/>
          </p:nvPr>
        </p:nvSpPr>
        <p:spPr>
          <a:xfrm>
            <a:off x="4634000" y="117100"/>
            <a:ext cx="4278000" cy="14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55"/>
              <a:t>Chasis</a:t>
            </a:r>
            <a:endParaRPr sz="3555"/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55"/>
              <a:t>Nox Hummer Void </a:t>
            </a:r>
            <a:endParaRPr sz="3555"/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55"/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6054875" y="2032300"/>
            <a:ext cx="3089100" cy="25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Precio:</a:t>
            </a: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49,90 €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URL:</a:t>
            </a:r>
            <a:r>
              <a:rPr lang="es" sz="18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 PcComponentes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Compatibilidad:</a:t>
            </a: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Soporta factor de forma:	Micro ATX para la placa.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Compartimiento para fuente de alimentación ATX.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s" sz="1800"/>
              <a:t>	</a:t>
            </a:r>
            <a:endParaRPr sz="1800"/>
          </a:p>
        </p:txBody>
      </p:sp>
      <p:sp>
        <p:nvSpPr>
          <p:cNvPr id="167" name="Google Shape;167;p17"/>
          <p:cNvSpPr txBox="1"/>
          <p:nvPr/>
        </p:nvSpPr>
        <p:spPr>
          <a:xfrm>
            <a:off x="4718175" y="1317600"/>
            <a:ext cx="382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p18"/>
          <p:cNvGraphicFramePr/>
          <p:nvPr/>
        </p:nvGraphicFramePr>
        <p:xfrm>
          <a:off x="203775" y="20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{C6529151-BD90-4E4D-8C88-4F342F35E45E}</a:tableStyleId>
              </a:tblPr>
              <a:tblGrid>
                <a:gridCol w="1417650"/>
                <a:gridCol w="3603450"/>
                <a:gridCol w="1536025"/>
                <a:gridCol w="1507700"/>
              </a:tblGrid>
              <a:tr h="527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Componente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Modelo Exacto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Precio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Tienda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CPU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AMD Ryzen 5 8500G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154,99 €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 u="sng">
                          <a:solidFill>
                            <a:schemeClr val="hlink"/>
                          </a:solidFill>
                          <a:hlinkClick r:id="rId3"/>
                        </a:rPr>
                        <a:t>Enlace</a:t>
                      </a:r>
                      <a:endParaRPr sz="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Placa Base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Gigabyte A620M H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79,99 €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 u="sng">
                          <a:solidFill>
                            <a:schemeClr val="hlink"/>
                          </a:solidFill>
                          <a:hlinkClick r:id="rId4"/>
                        </a:rPr>
                        <a:t>Enlace</a:t>
                      </a:r>
                      <a:endParaRPr sz="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RAM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Kingston FURY Beast DDR5 5600MHz 16GB (2x8GB)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219,95 €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 u="sng">
                          <a:solidFill>
                            <a:schemeClr val="hlink"/>
                          </a:solidFill>
                          <a:hlinkClick r:id="rId5"/>
                        </a:rPr>
                        <a:t>Enlace</a:t>
                      </a:r>
                      <a:endParaRPr sz="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SSD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Crucial P310 500GB M.2 PCIe 4.0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116,99 €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 u="sng">
                          <a:solidFill>
                            <a:schemeClr val="hlink"/>
                          </a:solidFill>
                          <a:hlinkClick r:id="rId6"/>
                        </a:rPr>
                        <a:t>Enlace</a:t>
                      </a:r>
                      <a:endParaRPr sz="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PSU (Fuente)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Be Quiet! Pure Power 11 CM 400W 80 Plus Gold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67,99 €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 u="sng">
                          <a:solidFill>
                            <a:schemeClr val="hlink"/>
                          </a:solidFill>
                          <a:hlinkClick r:id="rId7"/>
                        </a:rPr>
                        <a:t>Enlace</a:t>
                      </a:r>
                      <a:endParaRPr sz="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Chasis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Nox Hummer Void USB 3.0 Negro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800"/>
                        <a:t>49,90 €</a:t>
                      </a:r>
                      <a:endParaRPr sz="8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 u="sng">
                          <a:solidFill>
                            <a:schemeClr val="hlink"/>
                          </a:solidFill>
                          <a:hlinkClick r:id="rId8"/>
                        </a:rPr>
                        <a:t>Enlace</a:t>
                      </a:r>
                      <a:endParaRPr sz="6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TOTAL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t/>
                      </a:r>
                      <a:endParaRPr i="1"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" sz="600"/>
                        <a:t>689,81 €</a:t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Presupuesto final Custom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819150" y="1990725"/>
            <a:ext cx="2878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CPU:</a:t>
            </a: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154,99 €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Placa Base:</a:t>
            </a: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79,99 €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RAM:</a:t>
            </a: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219,95 €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SSD:</a:t>
            </a: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116,99 €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PSU:</a:t>
            </a: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67,99 €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Chasis:</a:t>
            </a: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49,90 €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TOTAL: 689,81 €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Mini PC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Beelink EQR6 </a:t>
            </a:r>
            <a:endParaRPr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819150" y="1990725"/>
            <a:ext cx="3694500" cy="23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Datos:</a:t>
            </a:r>
            <a:endParaRPr b="1" sz="16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Procesador:AMD Ryzen 5 6600U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Capacidad RAM: 32GB LPDDR5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Capacidad disco duro:  1TB SSD M.2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Precio:479,00 €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 rotWithShape="1">
          <a:blip r:embed="rId3">
            <a:alphaModFix/>
          </a:blip>
          <a:srcRect b="-17323" l="-5863" r="-5830" t="5629"/>
          <a:stretch/>
        </p:blipFill>
        <p:spPr>
          <a:xfrm>
            <a:off x="6504800" y="195850"/>
            <a:ext cx="2448000" cy="24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051250" y="2160225"/>
            <a:ext cx="27618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Pros y contras 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Pros: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●"/>
            </a:pPr>
            <a:r>
              <a:rPr b="1" lang="e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Ocupa muy poco espacio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●"/>
            </a:pPr>
            <a:r>
              <a:rPr b="1" lang="e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Silencioso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●"/>
            </a:pPr>
            <a:r>
              <a:rPr b="1" lang="e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Incluye licencia Windows 10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7904025" y="2842100"/>
            <a:ext cx="51300" cy="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583400" y="2160225"/>
            <a:ext cx="2369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Contras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●"/>
            </a:pPr>
            <a:r>
              <a:rPr b="1" lang="e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Memoria soldada en placa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●"/>
            </a:pPr>
            <a:r>
              <a:rPr b="1" lang="e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Irreparable necesita llevarla obligado a servicio técnico en caso de averia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Comparacion Custom vs Mini PC</a:t>
            </a:r>
            <a:endParaRPr/>
          </a:p>
        </p:txBody>
      </p:sp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Rendimiento: Empate técnico para ofimática (ambos son muy rápidos).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Espacio y Despliegue: Victoria absoluta del Mini PC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Longevidad y Mantenimiento: Victoria absoluta de la Torre custom.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Veredicto Final: * Si la empresa busca reducir el coste inicial, ahorrar espacio y no le importa cambiar de ordenadores cada poco tiempo el Mini PC es imbatible.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la política de la empresa es amortizar los equipos a largo tiempo, actualizando piezas clave y reparando averías de bajo coste, la Torre custom es la inversión correcta.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446700" y="929075"/>
            <a:ext cx="8574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3900"/>
              <a:t>GRACIAS</a:t>
            </a:r>
            <a:endParaRPr b="1" i="1" sz="13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